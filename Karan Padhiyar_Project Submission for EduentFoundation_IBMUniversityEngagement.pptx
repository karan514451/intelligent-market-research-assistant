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8" y="11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0368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396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15431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21631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28079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0661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4069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2323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50229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25868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50556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922668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90878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1538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70078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298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r>
              <a:rPr lang="en-US" b="1"/>
              <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622133340"/>
              </p:ext>
            </p:extLst>
          </p:nvPr>
        </p:nvGraphicFramePr>
        <p:xfrm>
          <a:off x="1299257" y="2600315"/>
          <a:ext cx="10220625" cy="2788129"/>
        </p:xfrm>
        <a:graphic>
          <a:graphicData uri="http://schemas.openxmlformats.org/drawingml/2006/table">
            <a:tbl>
              <a:tblPr>
                <a:noFill/>
                <a:tableStyleId>{72DA409A-753F-43E9-88D9-1875949E996A}</a:tableStyleId>
              </a:tblPr>
              <a:tblGrid>
                <a:gridCol w="2064875"/>
                <a:gridCol w="2443375"/>
                <a:gridCol w="3269000"/>
                <a:gridCol w="2443375"/>
              </a:tblGrid>
              <a:tr h="1162793">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Recent Passport Photo</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Mobile number</a:t>
                      </a:r>
                      <a:endParaRPr sz="1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[WhatsApp] </a:t>
                      </a:r>
                      <a:endParaRPr sz="18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625336">
                <a:tc>
                  <a:txBody>
                    <a:bodyPr/>
                    <a:lstStyle/>
                    <a:p>
                      <a:pPr marL="0" marR="0" lvl="0" indent="0" algn="ctr" rtl="0">
                        <a:lnSpc>
                          <a:spcPct val="100000"/>
                        </a:lnSpc>
                        <a:spcBef>
                          <a:spcPts val="0"/>
                        </a:spcBef>
                        <a:spcAft>
                          <a:spcPts val="0"/>
                        </a:spcAft>
                        <a:buClr>
                          <a:srgbClr val="000000"/>
                        </a:buClr>
                        <a:buSzPts val="1400"/>
                        <a:buFont typeface="Arial"/>
                        <a:buNone/>
                      </a:pPr>
                      <a:r>
                        <a:rPr lang="en-IN" sz="1400" u="none" strike="noStrike" cap="none" dirty="0" err="1" smtClean="0"/>
                        <a:t>Prof.</a:t>
                      </a:r>
                      <a:r>
                        <a:rPr lang="en-IN" sz="1400" u="none" strike="noStrike" cap="none" dirty="0" smtClean="0"/>
                        <a:t> Karan </a:t>
                      </a:r>
                      <a:r>
                        <a:rPr lang="en-IN" sz="1400" u="none" strike="noStrike" cap="none" dirty="0" err="1" smtClean="0"/>
                        <a:t>Padhiyar</a:t>
                      </a:r>
                      <a:endParaRPr sz="14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IN" sz="1400" u="none" strike="noStrike" cap="none" dirty="0" smtClean="0"/>
                        <a:t>karan.padhiyar@bvmengineering.ac.in</a:t>
                      </a:r>
                      <a:endParaRPr sz="14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smtClean="0"/>
                        <a:t>9638022641</a:t>
                      </a:r>
                      <a:endParaRPr sz="14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88" name="Google Shape;88;p2"/>
          <p:cNvSpPr txBox="1"/>
          <p:nvPr/>
        </p:nvSpPr>
        <p:spPr>
          <a:xfrm>
            <a:off x="1299257" y="1206679"/>
            <a:ext cx="10280254" cy="461665"/>
          </a:xfrm>
          <a:prstGeom prst="rect">
            <a:avLst/>
          </a:prstGeom>
          <a:noFill/>
          <a:ln>
            <a:noFill/>
          </a:ln>
        </p:spPr>
        <p:txBody>
          <a:bodyPr spcFirstLastPara="1" wrap="square" lIns="91425" tIns="45700" rIns="91425" bIns="45700" anchor="t" anchorCtr="0">
            <a:spAutoFit/>
          </a:bodyPr>
          <a:lstStyle/>
          <a:p>
            <a:pPr lvl="0"/>
            <a:r>
              <a:rPr lang="en-US" sz="2400" b="1" dirty="0"/>
              <a:t>Domain of Project – </a:t>
            </a:r>
            <a:r>
              <a:rPr lang="en-US" sz="2400" b="1" dirty="0" smtClean="0"/>
              <a:t>[ Business </a:t>
            </a:r>
            <a:r>
              <a:rPr lang="en-US" sz="2400" b="1" dirty="0"/>
              <a:t>Intelligence / Market </a:t>
            </a:r>
            <a:r>
              <a:rPr lang="en-US" sz="2400" b="1" dirty="0" smtClean="0"/>
              <a:t>Research ]</a:t>
            </a:r>
            <a:endParaRPr lang="en-US" sz="2400" b="1" dirty="0"/>
          </a:p>
        </p:txBody>
      </p:sp>
      <p:sp>
        <p:nvSpPr>
          <p:cNvPr id="89" name="Google Shape;89;p2"/>
          <p:cNvSpPr txBox="1"/>
          <p:nvPr/>
        </p:nvSpPr>
        <p:spPr>
          <a:xfrm>
            <a:off x="1102321" y="531686"/>
            <a:ext cx="10632641" cy="461624"/>
          </a:xfrm>
          <a:prstGeom prst="rect">
            <a:avLst/>
          </a:prstGeom>
          <a:noFill/>
          <a:ln>
            <a:noFill/>
          </a:ln>
        </p:spPr>
        <p:txBody>
          <a:bodyPr spcFirstLastPara="1" wrap="square" lIns="91425" tIns="45700" rIns="91425" bIns="45700" anchor="t" anchorCtr="0">
            <a:spAutoFit/>
          </a:bodyPr>
          <a:lstStyle/>
          <a:p>
            <a:pPr lvl="0"/>
            <a:r>
              <a:rPr lang="en-US" sz="2400" b="1" dirty="0"/>
              <a:t>Project Title – </a:t>
            </a:r>
            <a:r>
              <a:rPr lang="en-US" sz="2400" b="1" dirty="0" smtClean="0"/>
              <a:t>[Intelligent </a:t>
            </a:r>
            <a:r>
              <a:rPr lang="en-US" sz="2400" b="1" dirty="0"/>
              <a:t>Market Research Assistant using Agentic </a:t>
            </a:r>
            <a:r>
              <a:rPr lang="en-US" sz="2400" b="1" dirty="0" smtClean="0"/>
              <a:t>AI]</a:t>
            </a:r>
            <a:endParaRPr lang="en-US" sz="2400"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2996" y="4057148"/>
            <a:ext cx="967539" cy="12900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2" y="1475072"/>
            <a:ext cx="10607040" cy="47704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Problem Statement : Nutrition Agent</a:t>
            </a:r>
            <a:r>
              <a:rPr lang="en-US" sz="1600" b="0" i="0" u="none" strike="noStrike" cap="none" dirty="0">
                <a:solidFill>
                  <a:srgbClr val="000000"/>
                </a:solidFill>
                <a:latin typeface="Arial"/>
                <a:ea typeface="Arial"/>
                <a:cs typeface="Arial"/>
                <a:sym typeface="Arial"/>
              </a:rPr>
              <a:t> </a:t>
            </a:r>
            <a:endParaRPr sz="1600" dirty="0"/>
          </a:p>
          <a:p>
            <a:pPr marL="0" marR="0" lvl="0" indent="0" algn="l" rtl="0">
              <a:lnSpc>
                <a:spcPct val="100000"/>
              </a:lnSpc>
              <a:spcBef>
                <a:spcPts val="0"/>
              </a:spcBef>
              <a:spcAft>
                <a:spcPts val="0"/>
              </a:spcAft>
              <a:buNone/>
            </a:pPr>
            <a:endParaRPr sz="1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The Challenge</a:t>
            </a:r>
            <a:r>
              <a:rPr lang="en-US" sz="1600" b="0" i="0" u="none" strike="noStrike" cap="none" dirty="0">
                <a:solidFill>
                  <a:srgbClr val="000000"/>
                </a:solidFill>
                <a:latin typeface="Arial"/>
                <a:ea typeface="Arial"/>
                <a:cs typeface="Arial"/>
                <a:sym typeface="Arial"/>
              </a:rPr>
              <a:t> </a:t>
            </a:r>
            <a:endParaRPr sz="1600" dirty="0"/>
          </a:p>
          <a:p>
            <a:pPr lvl="0"/>
            <a:r>
              <a:rPr lang="en-US" sz="1600" dirty="0"/>
              <a:t>Organizations and startups often struggle with fragmented and rapidly changing market data such as customer feedback, competitor activities, analyst reports, industry publications, and social media trends. This information is scattered across multiple sources, making it difficult and time-consuming to analyze. Businesses need a solution that can not only gather information but also synthesize, predict, and generate actionable insights for smarter decision-making</a:t>
            </a:r>
            <a:r>
              <a:rPr lang="en-US" sz="1600" dirty="0" smtClean="0"/>
              <a:t>.</a:t>
            </a:r>
          </a:p>
          <a:p>
            <a:pPr lvl="0"/>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600" b="1" i="0" u="none" strike="noStrike" cap="none" dirty="0">
                <a:solidFill>
                  <a:srgbClr val="000000"/>
                </a:solidFill>
                <a:latin typeface="Arial"/>
                <a:ea typeface="Arial"/>
                <a:cs typeface="Arial"/>
                <a:sym typeface="Arial"/>
              </a:rPr>
              <a:t>The Objective</a:t>
            </a:r>
            <a:r>
              <a:rPr lang="en-US" sz="1600" b="0" i="0" u="none" strike="noStrike" cap="none" dirty="0">
                <a:solidFill>
                  <a:srgbClr val="000000"/>
                </a:solidFill>
                <a:latin typeface="Arial"/>
                <a:ea typeface="Arial"/>
                <a:cs typeface="Arial"/>
                <a:sym typeface="Arial"/>
              </a:rPr>
              <a:t> </a:t>
            </a:r>
            <a:endParaRPr sz="1600" dirty="0"/>
          </a:p>
          <a:p>
            <a:r>
              <a:rPr lang="en-US" sz="1600" dirty="0"/>
              <a:t>Build an Agentic AI-powered Market Research Assistant that:</a:t>
            </a:r>
          </a:p>
          <a:p>
            <a:pPr>
              <a:buFont typeface="Arial" panose="020B0604020202020204" pitchFamily="34" charset="0"/>
              <a:buChar char="•"/>
            </a:pPr>
            <a:r>
              <a:rPr lang="en-US" sz="1600" dirty="0" smtClean="0"/>
              <a:t> Collects </a:t>
            </a:r>
            <a:r>
              <a:rPr lang="en-US" sz="1600" dirty="0"/>
              <a:t>data from multiple sources. </a:t>
            </a:r>
          </a:p>
          <a:p>
            <a:pPr>
              <a:buFont typeface="Arial" panose="020B0604020202020204" pitchFamily="34" charset="0"/>
              <a:buChar char="•"/>
            </a:pPr>
            <a:r>
              <a:rPr lang="en-US" sz="1600" dirty="0" smtClean="0"/>
              <a:t> Performs </a:t>
            </a:r>
            <a:r>
              <a:rPr lang="en-US" sz="1600" dirty="0"/>
              <a:t>competitor and sentiment analysis. </a:t>
            </a:r>
          </a:p>
          <a:p>
            <a:pPr>
              <a:buFont typeface="Arial" panose="020B0604020202020204" pitchFamily="34" charset="0"/>
              <a:buChar char="•"/>
            </a:pPr>
            <a:r>
              <a:rPr lang="en-US" sz="1600" dirty="0" smtClean="0"/>
              <a:t> Forecasts </a:t>
            </a:r>
            <a:r>
              <a:rPr lang="en-US" sz="1600" dirty="0"/>
              <a:t>market trends. </a:t>
            </a:r>
          </a:p>
          <a:p>
            <a:pPr>
              <a:buFont typeface="Arial" panose="020B0604020202020204" pitchFamily="34" charset="0"/>
              <a:buChar char="•"/>
            </a:pPr>
            <a:r>
              <a:rPr lang="en-US" sz="1600" dirty="0" smtClean="0"/>
              <a:t> Generates </a:t>
            </a:r>
            <a:r>
              <a:rPr lang="en-US" sz="1600" dirty="0"/>
              <a:t>business intelligence reports. </a:t>
            </a:r>
          </a:p>
          <a:p>
            <a:pPr>
              <a:buFont typeface="Arial" panose="020B0604020202020204" pitchFamily="34" charset="0"/>
              <a:buChar char="•"/>
            </a:pPr>
            <a:r>
              <a:rPr lang="en-US" sz="1600" dirty="0" smtClean="0"/>
              <a:t> Provides </a:t>
            </a:r>
            <a:r>
              <a:rPr lang="en-US" sz="1600" dirty="0"/>
              <a:t>visual dashboards for decision-makers. </a:t>
            </a:r>
          </a:p>
          <a:p>
            <a:pPr>
              <a:buFont typeface="Arial" panose="020B0604020202020204" pitchFamily="34" charset="0"/>
              <a:buChar char="•"/>
            </a:pPr>
            <a:r>
              <a:rPr lang="en-US" sz="1600" dirty="0" smtClean="0"/>
              <a:t> Delivers </a:t>
            </a:r>
            <a:r>
              <a:rPr lang="en-US" sz="1600" dirty="0"/>
              <a:t>real-time alerts for market changes.</a:t>
            </a:r>
          </a:p>
          <a:p>
            <a:pPr marL="0" marR="0" lvl="0" indent="0" algn="l" rtl="0">
              <a:lnSpc>
                <a:spcPct val="100000"/>
              </a:lnSpc>
              <a:spcBef>
                <a:spcPts val="0"/>
              </a:spcBef>
              <a:spcAft>
                <a:spcPts val="0"/>
              </a:spcAft>
              <a:buNone/>
            </a:pPr>
            <a:endParaRPr sz="1600" b="0" i="0" u="none" strike="noStrike" cap="none" dirty="0" smtClean="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667497" y="1165750"/>
            <a:ext cx="12919800" cy="6247824"/>
          </a:xfrm>
          <a:prstGeom prst="rect">
            <a:avLst/>
          </a:prstGeom>
          <a:noFill/>
          <a:ln>
            <a:noFill/>
          </a:ln>
        </p:spPr>
        <p:txBody>
          <a:bodyPr spcFirstLastPara="1" wrap="square" lIns="91425" tIns="45700" rIns="91425" bIns="45700" numCol="1" anchor="t" anchorCtr="0">
            <a:spAutoFit/>
          </a:bodyPr>
          <a:lstStyle/>
          <a:p>
            <a:pPr marL="0" marR="0" lvl="0" indent="0" rtl="0">
              <a:lnSpc>
                <a:spcPct val="100000"/>
              </a:lnSpc>
              <a:spcBef>
                <a:spcPts val="0"/>
              </a:spcBef>
              <a:spcAft>
                <a:spcPts val="0"/>
              </a:spcAft>
              <a:buNone/>
            </a:pPr>
            <a:endParaRPr sz="2400" b="1" i="0" u="none" strike="noStrike" cap="none" dirty="0">
              <a:solidFill>
                <a:srgbClr val="000000"/>
              </a:solidFill>
              <a:sym typeface="Arial"/>
            </a:endParaRPr>
          </a:p>
          <a:p>
            <a:pPr marL="0" marR="0" lvl="0" indent="0" rtl="0">
              <a:lnSpc>
                <a:spcPct val="100000"/>
              </a:lnSpc>
              <a:spcBef>
                <a:spcPts val="0"/>
              </a:spcBef>
              <a:spcAft>
                <a:spcPts val="0"/>
              </a:spcAft>
              <a:buNone/>
            </a:pPr>
            <a:r>
              <a:rPr lang="en-US" sz="2400" b="1" i="0" u="none" strike="noStrike" cap="none" dirty="0">
                <a:solidFill>
                  <a:srgbClr val="000000"/>
                </a:solidFill>
                <a:sym typeface="Arial"/>
              </a:rPr>
              <a:t>Tech Stack (Mandatory)</a:t>
            </a:r>
            <a:r>
              <a:rPr lang="en-US" sz="2400" b="0" i="0" u="none" strike="noStrike" cap="none" dirty="0">
                <a:solidFill>
                  <a:srgbClr val="000000"/>
                </a:solidFill>
                <a:sym typeface="Arial"/>
              </a:rPr>
              <a:t> </a:t>
            </a:r>
            <a:endParaRPr sz="2400" dirty="0"/>
          </a:p>
          <a:p>
            <a:pPr marL="0" marR="0" lvl="0" indent="0" rtl="0">
              <a:lnSpc>
                <a:spcPct val="100000"/>
              </a:lnSpc>
              <a:spcBef>
                <a:spcPts val="0"/>
              </a:spcBef>
              <a:spcAft>
                <a:spcPts val="0"/>
              </a:spcAft>
              <a:buNone/>
            </a:pPr>
            <a:r>
              <a:rPr lang="en-US" sz="2400" b="0" i="0" u="none" strike="noStrike" cap="none" dirty="0" smtClean="0">
                <a:solidFill>
                  <a:srgbClr val="000000"/>
                </a:solidFill>
                <a:sym typeface="Arial"/>
              </a:rPr>
              <a:t>Used approaches:</a:t>
            </a:r>
            <a:r>
              <a:rPr lang="en-US" sz="2400" b="0" i="0" u="none" strike="noStrike" cap="none" dirty="0">
                <a:solidFill>
                  <a:srgbClr val="000000"/>
                </a:solidFill>
                <a:sym typeface="Arial"/>
              </a:rPr>
              <a:t> </a:t>
            </a:r>
            <a:r>
              <a:rPr lang="en-US" sz="2400" dirty="0"/>
              <a:t> </a:t>
            </a:r>
            <a:r>
              <a:rPr lang="en-IN" sz="2400" b="1" dirty="0" err="1" smtClean="0"/>
              <a:t>LangFlow</a:t>
            </a:r>
            <a:r>
              <a:rPr lang="en-IN" sz="2400" b="1" dirty="0" smtClean="0"/>
              <a:t> </a:t>
            </a:r>
            <a:r>
              <a:rPr lang="en-IN" sz="2400" b="1" dirty="0"/>
              <a:t>+ IBM watsonx.ai + IBM Granite </a:t>
            </a:r>
            <a:r>
              <a:rPr lang="en-IN" sz="2400" b="1" dirty="0" smtClean="0"/>
              <a:t>Models</a:t>
            </a:r>
            <a:endParaRPr lang="en-US" sz="2400" b="1" i="0" u="none" strike="noStrike" cap="none" dirty="0" smtClean="0">
              <a:solidFill>
                <a:srgbClr val="000000"/>
              </a:solidFill>
              <a:sym typeface="Arial"/>
            </a:endParaRPr>
          </a:p>
          <a:p>
            <a:pPr marL="285750" marR="0" lvl="0" indent="-196850" rtl="0">
              <a:lnSpc>
                <a:spcPct val="100000"/>
              </a:lnSpc>
              <a:spcBef>
                <a:spcPts val="0"/>
              </a:spcBef>
              <a:spcAft>
                <a:spcPts val="0"/>
              </a:spcAft>
              <a:buClr>
                <a:srgbClr val="000000"/>
              </a:buClr>
              <a:buSzPts val="1400"/>
              <a:buFont typeface="Arial"/>
              <a:buNone/>
            </a:pPr>
            <a:endParaRPr lang="en-US" sz="2400" b="1" i="0" u="none" strike="noStrike" cap="none" dirty="0" smtClean="0">
              <a:solidFill>
                <a:srgbClr val="000000"/>
              </a:solidFill>
              <a:sym typeface="Arial"/>
            </a:endParaRPr>
          </a:p>
          <a:p>
            <a:r>
              <a:rPr lang="en-IN" sz="1600" b="1" dirty="0"/>
              <a:t>Frontend</a:t>
            </a:r>
          </a:p>
          <a:p>
            <a:pPr>
              <a:buFont typeface="Arial" panose="020B0604020202020204" pitchFamily="34" charset="0"/>
              <a:buChar char="•"/>
            </a:pPr>
            <a:r>
              <a:rPr lang="en-IN" sz="1600" dirty="0" err="1"/>
              <a:t>Streamlit</a:t>
            </a:r>
            <a:r>
              <a:rPr lang="en-IN" sz="1600" dirty="0"/>
              <a:t> Dashboard </a:t>
            </a:r>
          </a:p>
          <a:p>
            <a:pPr>
              <a:buFont typeface="Arial" panose="020B0604020202020204" pitchFamily="34" charset="0"/>
              <a:buChar char="•"/>
            </a:pPr>
            <a:r>
              <a:rPr lang="en-IN" sz="1600" dirty="0"/>
              <a:t>Responsive User Interface </a:t>
            </a:r>
            <a:endParaRPr lang="en-IN" sz="1600" dirty="0" smtClean="0"/>
          </a:p>
          <a:p>
            <a:endParaRPr lang="en-IN" sz="1600" dirty="0"/>
          </a:p>
          <a:p>
            <a:r>
              <a:rPr lang="en-IN" sz="1600" b="1" dirty="0"/>
              <a:t>AI &amp; LLM</a:t>
            </a:r>
          </a:p>
          <a:p>
            <a:pPr>
              <a:buFont typeface="Arial" panose="020B0604020202020204" pitchFamily="34" charset="0"/>
              <a:buChar char="•"/>
            </a:pPr>
            <a:r>
              <a:rPr lang="en-IN" sz="1600" dirty="0"/>
              <a:t>IBM Granite 4.0-8B-Instruct </a:t>
            </a:r>
          </a:p>
          <a:p>
            <a:pPr>
              <a:buFont typeface="Arial" panose="020B0604020202020204" pitchFamily="34" charset="0"/>
              <a:buChar char="•"/>
            </a:pPr>
            <a:r>
              <a:rPr lang="en-IN" sz="1600" dirty="0"/>
              <a:t>IBM watsonx.ai </a:t>
            </a:r>
            <a:endParaRPr lang="en-IN" sz="1600" dirty="0" smtClean="0"/>
          </a:p>
          <a:p>
            <a:endParaRPr lang="en-IN" sz="1600" dirty="0"/>
          </a:p>
          <a:p>
            <a:r>
              <a:rPr lang="en-IN" sz="1600" b="1" dirty="0"/>
              <a:t>Workflow Orchestration</a:t>
            </a:r>
          </a:p>
          <a:p>
            <a:pPr>
              <a:buFont typeface="Arial" panose="020B0604020202020204" pitchFamily="34" charset="0"/>
              <a:buChar char="•"/>
            </a:pPr>
            <a:r>
              <a:rPr lang="en-IN" sz="1600" dirty="0" err="1"/>
              <a:t>LangFlow</a:t>
            </a:r>
            <a:r>
              <a:rPr lang="en-IN" sz="1600" dirty="0"/>
              <a:t> </a:t>
            </a:r>
            <a:endParaRPr lang="en-IN" sz="1600" dirty="0" smtClean="0"/>
          </a:p>
          <a:p>
            <a:endParaRPr lang="en-IN" sz="1600" dirty="0" smtClean="0"/>
          </a:p>
          <a:p>
            <a:r>
              <a:rPr lang="en-IN" sz="1600" b="1" dirty="0" smtClean="0"/>
              <a:t>Knowledge Retrieval</a:t>
            </a:r>
          </a:p>
          <a:p>
            <a:pPr>
              <a:buFont typeface="Arial" panose="020B0604020202020204" pitchFamily="34" charset="0"/>
              <a:buChar char="•"/>
            </a:pPr>
            <a:r>
              <a:rPr lang="en-IN" sz="1600" dirty="0" smtClean="0"/>
              <a:t>Retrieval </a:t>
            </a:r>
            <a:r>
              <a:rPr lang="en-IN" sz="1600" dirty="0"/>
              <a:t>Augmented Generation (RAG) </a:t>
            </a:r>
          </a:p>
          <a:p>
            <a:pPr marL="285750" marR="0" lvl="0" indent="-196850" rtl="0">
              <a:lnSpc>
                <a:spcPct val="100000"/>
              </a:lnSpc>
              <a:spcBef>
                <a:spcPts val="0"/>
              </a:spcBef>
              <a:spcAft>
                <a:spcPts val="0"/>
              </a:spcAft>
              <a:buClr>
                <a:srgbClr val="000000"/>
              </a:buClr>
              <a:buSzPts val="1400"/>
              <a:buFont typeface="Arial"/>
              <a:buNone/>
            </a:pPr>
            <a:endParaRPr sz="2400" b="0" i="0" u="none" strike="noStrike" cap="none" dirty="0">
              <a:solidFill>
                <a:srgbClr val="000000"/>
              </a:solidFill>
              <a:sym typeface="Arial"/>
            </a:endParaRPr>
          </a:p>
          <a:p>
            <a:pPr marL="0" marR="0" lvl="0" indent="0" rtl="0">
              <a:lnSpc>
                <a:spcPct val="100000"/>
              </a:lnSpc>
              <a:spcBef>
                <a:spcPts val="0"/>
              </a:spcBef>
              <a:spcAft>
                <a:spcPts val="0"/>
              </a:spcAft>
              <a:buNone/>
            </a:pPr>
            <a:endParaRPr sz="2400" b="0" i="0" u="none" strike="noStrike" cap="none" dirty="0">
              <a:solidFill>
                <a:srgbClr val="000000"/>
              </a:solidFill>
              <a:sym typeface="Arial"/>
            </a:endParaRPr>
          </a:p>
          <a:p>
            <a:pPr marL="0" marR="0" lvl="0" indent="0" rtl="0">
              <a:lnSpc>
                <a:spcPct val="100000"/>
              </a:lnSpc>
              <a:spcBef>
                <a:spcPts val="0"/>
              </a:spcBef>
              <a:spcAft>
                <a:spcPts val="0"/>
              </a:spcAft>
              <a:buNone/>
            </a:pPr>
            <a:endParaRPr sz="2400" b="0" i="0" u="none" strike="noStrike" cap="none" dirty="0">
              <a:solidFill>
                <a:srgbClr val="000000"/>
              </a:solidFill>
              <a:sym typeface="Arial"/>
            </a:endParaRPr>
          </a:p>
          <a:p>
            <a:pPr marL="0" marR="0" lvl="0" indent="0" rtl="0">
              <a:lnSpc>
                <a:spcPct val="100000"/>
              </a:lnSpc>
              <a:spcBef>
                <a:spcPts val="0"/>
              </a:spcBef>
              <a:spcAft>
                <a:spcPts val="0"/>
              </a:spcAft>
              <a:buNone/>
            </a:pPr>
            <a:endParaRPr sz="2400" b="0" i="0" u="none" strike="noStrike" cap="none" dirty="0">
              <a:solidFill>
                <a:srgbClr val="000000"/>
              </a:solidFill>
              <a:sym typeface="Arial"/>
            </a:endParaRPr>
          </a:p>
        </p:txBody>
      </p:sp>
      <p:sp>
        <p:nvSpPr>
          <p:cNvPr id="101" name="Google Shape;101;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 </a:t>
            </a:r>
            <a:endParaRPr sz="2400" b="1" i="0" u="none" strike="noStrike" cap="none">
              <a:solidFill>
                <a:srgbClr val="000000"/>
              </a:solidFill>
              <a:latin typeface="Arial"/>
              <a:ea typeface="Arial"/>
              <a:cs typeface="Arial"/>
              <a:sym typeface="Arial"/>
            </a:endParaRPr>
          </a:p>
        </p:txBody>
      </p:sp>
      <p:sp>
        <p:nvSpPr>
          <p:cNvPr id="2" name="TextBox 1"/>
          <p:cNvSpPr txBox="1"/>
          <p:nvPr/>
        </p:nvSpPr>
        <p:spPr>
          <a:xfrm>
            <a:off x="5983706" y="2581503"/>
            <a:ext cx="4010526" cy="4247317"/>
          </a:xfrm>
          <a:prstGeom prst="rect">
            <a:avLst/>
          </a:prstGeom>
          <a:noFill/>
        </p:spPr>
        <p:txBody>
          <a:bodyPr wrap="square" rtlCol="0">
            <a:spAutoFit/>
          </a:bodyPr>
          <a:lstStyle/>
          <a:p>
            <a:pPr lvl="0"/>
            <a:r>
              <a:rPr lang="en-IN" sz="1800" b="1" dirty="0"/>
              <a:t>Vector Database</a:t>
            </a:r>
          </a:p>
          <a:p>
            <a:pPr lvl="0">
              <a:buFont typeface="Arial" panose="020B0604020202020204" pitchFamily="34" charset="0"/>
              <a:buChar char="•"/>
            </a:pPr>
            <a:r>
              <a:rPr lang="en-IN" sz="1800" dirty="0" err="1"/>
              <a:t>ChromaDB</a:t>
            </a:r>
            <a:r>
              <a:rPr lang="en-IN" sz="1800" dirty="0"/>
              <a:t> </a:t>
            </a:r>
            <a:endParaRPr lang="en-IN" sz="1800" dirty="0" smtClean="0"/>
          </a:p>
          <a:p>
            <a:pPr lvl="0"/>
            <a:endParaRPr lang="en-IN" sz="1800" dirty="0"/>
          </a:p>
          <a:p>
            <a:pPr lvl="0"/>
            <a:r>
              <a:rPr lang="en-IN" sz="1800" b="1" dirty="0"/>
              <a:t>Backend</a:t>
            </a:r>
          </a:p>
          <a:p>
            <a:pPr lvl="0">
              <a:buFont typeface="Arial" panose="020B0604020202020204" pitchFamily="34" charset="0"/>
              <a:buChar char="•"/>
            </a:pPr>
            <a:r>
              <a:rPr lang="en-IN" sz="1800" dirty="0"/>
              <a:t>Python </a:t>
            </a:r>
          </a:p>
          <a:p>
            <a:pPr lvl="0">
              <a:buFont typeface="Arial" panose="020B0604020202020204" pitchFamily="34" charset="0"/>
              <a:buChar char="•"/>
            </a:pPr>
            <a:r>
              <a:rPr lang="en-IN" sz="1800" dirty="0" err="1"/>
              <a:t>FastAPI</a:t>
            </a:r>
            <a:r>
              <a:rPr lang="en-IN" sz="1800" dirty="0"/>
              <a:t> </a:t>
            </a:r>
            <a:endParaRPr lang="en-IN" sz="1800" dirty="0" smtClean="0"/>
          </a:p>
          <a:p>
            <a:pPr lvl="0"/>
            <a:endParaRPr lang="en-IN" sz="1800" dirty="0"/>
          </a:p>
          <a:p>
            <a:pPr lvl="0"/>
            <a:r>
              <a:rPr lang="en-IN" sz="1800" b="1" dirty="0"/>
              <a:t>Cloud Platform</a:t>
            </a:r>
          </a:p>
          <a:p>
            <a:pPr lvl="0">
              <a:buFont typeface="Arial" panose="020B0604020202020204" pitchFamily="34" charset="0"/>
              <a:buChar char="•"/>
            </a:pPr>
            <a:r>
              <a:rPr lang="en-IN" sz="1800" dirty="0"/>
              <a:t>IBM Cloud </a:t>
            </a:r>
            <a:endParaRPr lang="en-IN" sz="1800" dirty="0" smtClean="0"/>
          </a:p>
          <a:p>
            <a:pPr lvl="0"/>
            <a:endParaRPr lang="en-IN" sz="1800" dirty="0"/>
          </a:p>
          <a:p>
            <a:pPr lvl="0"/>
            <a:r>
              <a:rPr lang="en-IN" sz="1800" b="1" dirty="0"/>
              <a:t>Data Sources</a:t>
            </a:r>
          </a:p>
          <a:p>
            <a:pPr lvl="0">
              <a:buFont typeface="Arial" panose="020B0604020202020204" pitchFamily="34" charset="0"/>
              <a:buChar char="•"/>
            </a:pPr>
            <a:r>
              <a:rPr lang="en-IN" sz="1800" dirty="0"/>
              <a:t>News APIs </a:t>
            </a:r>
          </a:p>
          <a:p>
            <a:pPr lvl="0">
              <a:buFont typeface="Arial" panose="020B0604020202020204" pitchFamily="34" charset="0"/>
              <a:buChar char="•"/>
            </a:pPr>
            <a:r>
              <a:rPr lang="en-IN" sz="1800" dirty="0"/>
              <a:t>Customer Reviews </a:t>
            </a:r>
          </a:p>
          <a:p>
            <a:pPr lvl="0">
              <a:buFont typeface="Arial" panose="020B0604020202020204" pitchFamily="34" charset="0"/>
              <a:buChar char="•"/>
            </a:pPr>
            <a:r>
              <a:rPr lang="en-IN" sz="1800" dirty="0"/>
              <a:t>Social Media Feeds </a:t>
            </a:r>
          </a:p>
          <a:p>
            <a:pPr lvl="0">
              <a:buFont typeface="Arial" panose="020B0604020202020204" pitchFamily="34" charset="0"/>
              <a:buChar char="•"/>
            </a:pPr>
            <a:r>
              <a:rPr lang="en-IN" sz="1800" dirty="0"/>
              <a:t>Industry Reports</a:t>
            </a:r>
            <a:endParaRPr lang="en-IN"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576072" y="934920"/>
            <a:ext cx="10607040" cy="60016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600" b="1" i="0" u="none" strike="noStrike" cap="none" dirty="0">
              <a:solidFill>
                <a:srgbClr val="000000"/>
              </a:solidFill>
              <a:latin typeface="Arial"/>
              <a:ea typeface="Arial"/>
              <a:cs typeface="Arial"/>
              <a:sym typeface="Arial"/>
            </a:endParaRPr>
          </a:p>
          <a:p>
            <a:r>
              <a:rPr lang="en-IN" sz="1600" b="1" dirty="0"/>
              <a:t>AI-Powered Intelligent Market Research </a:t>
            </a:r>
            <a:r>
              <a:rPr lang="en-IN" sz="1600" b="1" dirty="0" smtClean="0"/>
              <a:t>Assistant</a:t>
            </a:r>
          </a:p>
          <a:p>
            <a:endParaRPr lang="en-IN" sz="1600" b="1" dirty="0"/>
          </a:p>
          <a:p>
            <a:r>
              <a:rPr lang="en-IN" sz="1600" dirty="0"/>
              <a:t>The proposed solution is a multi-agent market intelligence platform built using </a:t>
            </a:r>
            <a:r>
              <a:rPr lang="en-IN" sz="1600" dirty="0" err="1"/>
              <a:t>LangFlow</a:t>
            </a:r>
            <a:r>
              <a:rPr lang="en-IN" sz="1600" dirty="0"/>
              <a:t>, IBM watsonx.ai, and IBM Granite Models.</a:t>
            </a:r>
          </a:p>
          <a:p>
            <a:r>
              <a:rPr lang="en-IN" sz="1600" dirty="0"/>
              <a:t>The system continuously gathers market-related information from trusted sources and uses Retrieval-Augmented Generation (RAG) to retrieve relevant knowledge before generating insights.</a:t>
            </a:r>
          </a:p>
          <a:p>
            <a:r>
              <a:rPr lang="en-IN" sz="1600" b="1" dirty="0"/>
              <a:t>Core </a:t>
            </a:r>
            <a:r>
              <a:rPr lang="en-IN" sz="1600" b="1" dirty="0" smtClean="0"/>
              <a:t>Functions</a:t>
            </a:r>
          </a:p>
          <a:p>
            <a:endParaRPr lang="en-IN" sz="1600" b="1" dirty="0"/>
          </a:p>
          <a:p>
            <a:pPr>
              <a:buFont typeface="Arial" panose="020B0604020202020204" pitchFamily="34" charset="0"/>
              <a:buChar char="•"/>
            </a:pPr>
            <a:r>
              <a:rPr lang="en-IN" sz="1600" dirty="0" smtClean="0"/>
              <a:t> Market </a:t>
            </a:r>
            <a:r>
              <a:rPr lang="en-IN" sz="1600" dirty="0"/>
              <a:t>Trend Analysis </a:t>
            </a:r>
          </a:p>
          <a:p>
            <a:pPr>
              <a:buFont typeface="Arial" panose="020B0604020202020204" pitchFamily="34" charset="0"/>
              <a:buChar char="•"/>
            </a:pPr>
            <a:r>
              <a:rPr lang="en-IN" sz="1600" dirty="0" smtClean="0"/>
              <a:t> Competitor </a:t>
            </a:r>
            <a:r>
              <a:rPr lang="en-IN" sz="1600" dirty="0"/>
              <a:t>Intelligence </a:t>
            </a:r>
          </a:p>
          <a:p>
            <a:pPr>
              <a:buFont typeface="Arial" panose="020B0604020202020204" pitchFamily="34" charset="0"/>
              <a:buChar char="•"/>
            </a:pPr>
            <a:r>
              <a:rPr lang="en-IN" sz="1600" dirty="0" smtClean="0"/>
              <a:t> Customer </a:t>
            </a:r>
            <a:r>
              <a:rPr lang="en-IN" sz="1600" dirty="0"/>
              <a:t>Sentiment Analysis </a:t>
            </a:r>
          </a:p>
          <a:p>
            <a:pPr>
              <a:buFont typeface="Arial" panose="020B0604020202020204" pitchFamily="34" charset="0"/>
              <a:buChar char="•"/>
            </a:pPr>
            <a:r>
              <a:rPr lang="en-IN" sz="1600" dirty="0" smtClean="0"/>
              <a:t> Industry </a:t>
            </a:r>
            <a:r>
              <a:rPr lang="en-IN" sz="1600" dirty="0"/>
              <a:t>Monitoring </a:t>
            </a:r>
          </a:p>
          <a:p>
            <a:pPr>
              <a:buFont typeface="Arial" panose="020B0604020202020204" pitchFamily="34" charset="0"/>
              <a:buChar char="•"/>
            </a:pPr>
            <a:r>
              <a:rPr lang="en-IN" sz="1600" dirty="0" smtClean="0"/>
              <a:t> Demand </a:t>
            </a:r>
            <a:r>
              <a:rPr lang="en-IN" sz="1600" dirty="0"/>
              <a:t>Forecasting </a:t>
            </a:r>
          </a:p>
          <a:p>
            <a:pPr>
              <a:buFont typeface="Arial" panose="020B0604020202020204" pitchFamily="34" charset="0"/>
              <a:buChar char="•"/>
            </a:pPr>
            <a:r>
              <a:rPr lang="en-IN" sz="1600" dirty="0" smtClean="0"/>
              <a:t> Executive </a:t>
            </a:r>
            <a:r>
              <a:rPr lang="en-IN" sz="1600" dirty="0"/>
              <a:t>Report </a:t>
            </a:r>
            <a:r>
              <a:rPr lang="en-IN" sz="1600" dirty="0" smtClean="0"/>
              <a:t>Generation</a:t>
            </a:r>
          </a:p>
          <a:p>
            <a:pPr>
              <a:buFont typeface="Arial" panose="020B0604020202020204" pitchFamily="34" charset="0"/>
              <a:buChar char="•"/>
            </a:pPr>
            <a:endParaRPr lang="en-IN" sz="1600" dirty="0"/>
          </a:p>
          <a:p>
            <a:r>
              <a:rPr lang="en-IN" sz="1600" b="1" dirty="0" smtClean="0"/>
              <a:t>Benefits</a:t>
            </a:r>
          </a:p>
          <a:p>
            <a:endParaRPr lang="en-IN" sz="1600" b="1" dirty="0"/>
          </a:p>
          <a:p>
            <a:pPr>
              <a:buFont typeface="Arial" panose="020B0604020202020204" pitchFamily="34" charset="0"/>
              <a:buChar char="•"/>
            </a:pPr>
            <a:r>
              <a:rPr lang="en-IN" sz="1600" dirty="0" smtClean="0"/>
              <a:t> Faster </a:t>
            </a:r>
            <a:r>
              <a:rPr lang="en-IN" sz="1600" dirty="0"/>
              <a:t>market research </a:t>
            </a:r>
          </a:p>
          <a:p>
            <a:pPr>
              <a:buFont typeface="Arial" panose="020B0604020202020204" pitchFamily="34" charset="0"/>
              <a:buChar char="•"/>
            </a:pPr>
            <a:r>
              <a:rPr lang="en-IN" sz="1600" dirty="0" smtClean="0"/>
              <a:t> Better </a:t>
            </a:r>
            <a:r>
              <a:rPr lang="en-IN" sz="1600" dirty="0"/>
              <a:t>business decisions </a:t>
            </a:r>
          </a:p>
          <a:p>
            <a:pPr>
              <a:buFont typeface="Arial" panose="020B0604020202020204" pitchFamily="34" charset="0"/>
              <a:buChar char="•"/>
            </a:pPr>
            <a:r>
              <a:rPr lang="en-IN" sz="1600" dirty="0" smtClean="0"/>
              <a:t> Reduced </a:t>
            </a:r>
            <a:r>
              <a:rPr lang="en-IN" sz="1600" dirty="0"/>
              <a:t>manual effort </a:t>
            </a:r>
          </a:p>
          <a:p>
            <a:pPr>
              <a:buFont typeface="Arial" panose="020B0604020202020204" pitchFamily="34" charset="0"/>
              <a:buChar char="•"/>
            </a:pPr>
            <a:r>
              <a:rPr lang="en-IN" sz="1600" dirty="0" smtClean="0"/>
              <a:t> Real-time </a:t>
            </a:r>
            <a:r>
              <a:rPr lang="en-IN" sz="1600" dirty="0"/>
              <a:t>market monitoring</a:t>
            </a:r>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473255"/>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540156" y="1219708"/>
            <a:ext cx="5589094" cy="4801274"/>
          </a:xfrm>
          <a:prstGeom prst="rect">
            <a:avLst/>
          </a:prstGeom>
          <a:noFill/>
          <a:ln>
            <a:noFill/>
          </a:ln>
        </p:spPr>
        <p:txBody>
          <a:bodyPr spcFirstLastPara="1" wrap="square" lIns="91425" tIns="45700" rIns="91425" bIns="45700" numCol="1" anchor="t" anchorCtr="0">
            <a:spAutoFit/>
          </a:bodyPr>
          <a:lstStyle/>
          <a:p>
            <a:r>
              <a:rPr lang="en-IN" sz="1800" b="1" dirty="0"/>
              <a:t>1. Chat Input</a:t>
            </a:r>
          </a:p>
          <a:p>
            <a:r>
              <a:rPr lang="en-IN" sz="1800" dirty="0"/>
              <a:t>Accepts user queries</a:t>
            </a:r>
            <a:r>
              <a:rPr lang="en-IN" sz="1800" dirty="0" smtClean="0"/>
              <a:t>.</a:t>
            </a:r>
          </a:p>
          <a:p>
            <a:endParaRPr lang="en-IN" sz="1800" dirty="0"/>
          </a:p>
          <a:p>
            <a:r>
              <a:rPr lang="en-IN" sz="1800" b="1" dirty="0"/>
              <a:t>2. URL Loader</a:t>
            </a:r>
          </a:p>
          <a:p>
            <a:r>
              <a:rPr lang="en-IN" sz="1800" dirty="0"/>
              <a:t>Collects market reports and online content</a:t>
            </a:r>
            <a:r>
              <a:rPr lang="en-IN" sz="1800" dirty="0" smtClean="0"/>
              <a:t>.</a:t>
            </a:r>
          </a:p>
          <a:p>
            <a:endParaRPr lang="en-IN" sz="1800" dirty="0"/>
          </a:p>
          <a:p>
            <a:r>
              <a:rPr lang="en-IN" sz="1800" b="1" dirty="0"/>
              <a:t>3. File Loader</a:t>
            </a:r>
          </a:p>
          <a:p>
            <a:r>
              <a:rPr lang="en-IN" sz="1800" dirty="0"/>
              <a:t>Loads uploaded reports and research documents</a:t>
            </a:r>
            <a:r>
              <a:rPr lang="en-IN" sz="1800" dirty="0" smtClean="0"/>
              <a:t>.</a:t>
            </a:r>
          </a:p>
          <a:p>
            <a:endParaRPr lang="en-IN" sz="1800" dirty="0"/>
          </a:p>
          <a:p>
            <a:r>
              <a:rPr lang="en-IN" sz="1800" b="1" dirty="0"/>
              <a:t>4. Text Splitter</a:t>
            </a:r>
          </a:p>
          <a:p>
            <a:r>
              <a:rPr lang="en-IN" sz="1800" dirty="0"/>
              <a:t>Chunks documents for processing</a:t>
            </a:r>
            <a:r>
              <a:rPr lang="en-IN" sz="1800" dirty="0" smtClean="0"/>
              <a:t>.</a:t>
            </a:r>
          </a:p>
          <a:p>
            <a:endParaRPr lang="en-IN" sz="1800" dirty="0"/>
          </a:p>
          <a:p>
            <a:r>
              <a:rPr lang="en-IN" sz="1800" b="1" dirty="0"/>
              <a:t>5. IBM Embedding Model</a:t>
            </a:r>
          </a:p>
          <a:p>
            <a:r>
              <a:rPr lang="en-IN" sz="1800" dirty="0"/>
              <a:t>Creates vector </a:t>
            </a:r>
            <a:r>
              <a:rPr lang="en-IN" sz="1800" dirty="0" err="1" smtClean="0"/>
              <a:t>embeddings</a:t>
            </a:r>
            <a:r>
              <a:rPr lang="en-IN" sz="1800" dirty="0" smtClean="0"/>
              <a:t>.</a:t>
            </a:r>
          </a:p>
          <a:p>
            <a:endParaRPr lang="en-IN" sz="1800" dirty="0" smtClean="0"/>
          </a:p>
          <a:p>
            <a:r>
              <a:rPr lang="en-IN" sz="1800" b="1" dirty="0" smtClean="0"/>
              <a:t>6. </a:t>
            </a:r>
            <a:r>
              <a:rPr lang="en-IN" sz="1800" b="1" dirty="0" err="1" smtClean="0"/>
              <a:t>ChromaDB</a:t>
            </a:r>
            <a:r>
              <a:rPr lang="en-IN" sz="1800" b="1" dirty="0" smtClean="0"/>
              <a:t> Vector Store</a:t>
            </a:r>
          </a:p>
          <a:p>
            <a:r>
              <a:rPr lang="en-IN" sz="1800" dirty="0" smtClean="0"/>
              <a:t>Stores </a:t>
            </a:r>
            <a:r>
              <a:rPr lang="en-IN" sz="1800" dirty="0"/>
              <a:t>market knowledge vectors</a:t>
            </a:r>
            <a:r>
              <a:rPr lang="en-IN" sz="1800" dirty="0" smtClean="0"/>
              <a:t>.</a:t>
            </a:r>
            <a:endParaRPr lang="en-IN" sz="1800" dirty="0"/>
          </a:p>
        </p:txBody>
      </p:sp>
      <p:sp>
        <p:nvSpPr>
          <p:cNvPr id="10" name="Google Shape;119;p37"/>
          <p:cNvSpPr txBox="1"/>
          <p:nvPr/>
        </p:nvSpPr>
        <p:spPr>
          <a:xfrm>
            <a:off x="6629340" y="1219708"/>
            <a:ext cx="3930253" cy="3970277"/>
          </a:xfrm>
          <a:prstGeom prst="rect">
            <a:avLst/>
          </a:prstGeom>
          <a:noFill/>
          <a:ln>
            <a:noFill/>
          </a:ln>
        </p:spPr>
        <p:txBody>
          <a:bodyPr spcFirstLastPara="1" wrap="square" lIns="91425" tIns="45700" rIns="91425" bIns="45700" numCol="1" anchor="t" anchorCtr="0">
            <a:spAutoFit/>
          </a:bodyPr>
          <a:lstStyle/>
          <a:p>
            <a:r>
              <a:rPr lang="en-IN" sz="1800" b="1" dirty="0" smtClean="0"/>
              <a:t>7</a:t>
            </a:r>
            <a:r>
              <a:rPr lang="en-IN" sz="1800" b="1" dirty="0"/>
              <a:t>. Retriever Component</a:t>
            </a:r>
          </a:p>
          <a:p>
            <a:r>
              <a:rPr lang="en-IN" sz="1800" dirty="0"/>
              <a:t>Retrieves relevant information</a:t>
            </a:r>
            <a:r>
              <a:rPr lang="en-IN" sz="1800" dirty="0" smtClean="0"/>
              <a:t>.</a:t>
            </a:r>
          </a:p>
          <a:p>
            <a:endParaRPr lang="en-IN" sz="1800" dirty="0"/>
          </a:p>
          <a:p>
            <a:r>
              <a:rPr lang="en-IN" sz="1800" b="1" dirty="0"/>
              <a:t>8. IBM Granite Model</a:t>
            </a:r>
          </a:p>
          <a:p>
            <a:r>
              <a:rPr lang="en-IN" sz="1800" dirty="0"/>
              <a:t>Generates insights and reports</a:t>
            </a:r>
            <a:r>
              <a:rPr lang="en-IN" sz="1800" dirty="0" smtClean="0"/>
              <a:t>.</a:t>
            </a:r>
          </a:p>
          <a:p>
            <a:endParaRPr lang="en-IN" sz="1800" dirty="0"/>
          </a:p>
          <a:p>
            <a:r>
              <a:rPr lang="en-IN" sz="1800" b="1" dirty="0"/>
              <a:t>9. Agent Component</a:t>
            </a:r>
          </a:p>
          <a:p>
            <a:r>
              <a:rPr lang="en-IN" sz="1800" dirty="0"/>
              <a:t>Coordinates specialized agents</a:t>
            </a:r>
            <a:r>
              <a:rPr lang="en-IN" sz="1800" dirty="0" smtClean="0"/>
              <a:t>.</a:t>
            </a:r>
          </a:p>
          <a:p>
            <a:endParaRPr lang="en-IN" sz="1800" dirty="0"/>
          </a:p>
          <a:p>
            <a:r>
              <a:rPr lang="en-IN" sz="1800" b="1" dirty="0"/>
              <a:t>10. Prompt Template</a:t>
            </a:r>
          </a:p>
          <a:p>
            <a:r>
              <a:rPr lang="en-IN" sz="1800" dirty="0"/>
              <a:t>Structures AI prompts</a:t>
            </a:r>
            <a:r>
              <a:rPr lang="en-IN" sz="1800" dirty="0" smtClean="0"/>
              <a:t>.</a:t>
            </a:r>
          </a:p>
          <a:p>
            <a:endParaRPr lang="en-IN" sz="1800" dirty="0"/>
          </a:p>
          <a:p>
            <a:r>
              <a:rPr lang="en-IN" sz="1800" b="1" dirty="0"/>
              <a:t>11. Chat Output</a:t>
            </a:r>
          </a:p>
          <a:p>
            <a:r>
              <a:rPr lang="en-IN" sz="1800" dirty="0"/>
              <a:t>Displays final results.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38"/>
          <p:cNvPicPr preferRelativeResize="0"/>
          <p:nvPr/>
        </p:nvPicPr>
        <p:blipFill rotWithShape="1">
          <a:blip r:embed="rId3">
            <a:alphaModFix/>
          </a:blip>
          <a:srcRect/>
          <a:stretch/>
        </p:blipFill>
        <p:spPr>
          <a:xfrm>
            <a:off x="464439" y="1066220"/>
            <a:ext cx="11469656" cy="5544892"/>
          </a:xfrm>
          <a:prstGeom prst="rect">
            <a:avLst/>
          </a:prstGeom>
          <a:noFill/>
          <a:ln>
            <a:noFill/>
          </a:ln>
        </p:spPr>
      </p:pic>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sp>
        <p:nvSpPr>
          <p:cNvPr id="138" name="Google Shape;138;p9"/>
          <p:cNvSpPr txBox="1"/>
          <p:nvPr/>
        </p:nvSpPr>
        <p:spPr>
          <a:xfrm>
            <a:off x="621792" y="1167493"/>
            <a:ext cx="7406640" cy="4770496"/>
          </a:xfrm>
          <a:prstGeom prst="rect">
            <a:avLst/>
          </a:prstGeom>
          <a:noFill/>
          <a:ln>
            <a:noFill/>
          </a:ln>
        </p:spPr>
        <p:txBody>
          <a:bodyPr spcFirstLastPara="1" wrap="square" lIns="91425" tIns="45700" rIns="91425" bIns="45700" anchor="t" anchorCtr="0">
            <a:spAutoFit/>
          </a:bodyPr>
          <a:lstStyle/>
          <a:p>
            <a:r>
              <a:rPr lang="en-US" sz="1600" b="1" dirty="0"/>
              <a:t>Role of Agentic AI in the Solution</a:t>
            </a:r>
          </a:p>
          <a:p>
            <a:r>
              <a:rPr lang="en-US" sz="1600" dirty="0"/>
              <a:t>Agentic AI enables autonomous market research by allowing multiple intelligent agents to collaborate</a:t>
            </a:r>
            <a:r>
              <a:rPr lang="en-US" sz="1600" dirty="0" smtClean="0"/>
              <a:t>.</a:t>
            </a:r>
          </a:p>
          <a:p>
            <a:endParaRPr lang="en-US" sz="1600" dirty="0"/>
          </a:p>
          <a:p>
            <a:r>
              <a:rPr lang="en-US" sz="1600" b="1" dirty="0"/>
              <a:t>Key </a:t>
            </a:r>
            <a:r>
              <a:rPr lang="en-US" sz="1600" b="1" dirty="0" smtClean="0"/>
              <a:t>Contributions</a:t>
            </a:r>
          </a:p>
          <a:p>
            <a:endParaRPr lang="en-US" sz="1600" b="1" dirty="0"/>
          </a:p>
          <a:p>
            <a:pPr>
              <a:buFont typeface="Arial" panose="020B0604020202020204" pitchFamily="34" charset="0"/>
              <a:buChar char="•"/>
            </a:pPr>
            <a:r>
              <a:rPr lang="en-US" sz="1600" dirty="0" smtClean="0"/>
              <a:t> Autonomous </a:t>
            </a:r>
            <a:r>
              <a:rPr lang="en-US" sz="1600" dirty="0"/>
              <a:t>data collection </a:t>
            </a:r>
          </a:p>
          <a:p>
            <a:pPr>
              <a:buFont typeface="Arial" panose="020B0604020202020204" pitchFamily="34" charset="0"/>
              <a:buChar char="•"/>
            </a:pPr>
            <a:r>
              <a:rPr lang="en-US" sz="1600" dirty="0" smtClean="0"/>
              <a:t> Intelligent </a:t>
            </a:r>
            <a:r>
              <a:rPr lang="en-US" sz="1600" dirty="0"/>
              <a:t>competitor tracking </a:t>
            </a:r>
          </a:p>
          <a:p>
            <a:pPr>
              <a:buFont typeface="Arial" panose="020B0604020202020204" pitchFamily="34" charset="0"/>
              <a:buChar char="•"/>
            </a:pPr>
            <a:r>
              <a:rPr lang="en-US" sz="1600" dirty="0" smtClean="0"/>
              <a:t> Continuous </a:t>
            </a:r>
            <a:r>
              <a:rPr lang="en-US" sz="1600" dirty="0"/>
              <a:t>sentiment monitoring </a:t>
            </a:r>
          </a:p>
          <a:p>
            <a:pPr>
              <a:buFont typeface="Arial" panose="020B0604020202020204" pitchFamily="34" charset="0"/>
              <a:buChar char="•"/>
            </a:pPr>
            <a:r>
              <a:rPr lang="en-US" sz="1600" dirty="0" smtClean="0"/>
              <a:t> Market </a:t>
            </a:r>
            <a:r>
              <a:rPr lang="en-US" sz="1600" dirty="0"/>
              <a:t>trend prediction </a:t>
            </a:r>
          </a:p>
          <a:p>
            <a:pPr>
              <a:buFont typeface="Arial" panose="020B0604020202020204" pitchFamily="34" charset="0"/>
              <a:buChar char="•"/>
            </a:pPr>
            <a:r>
              <a:rPr lang="en-US" sz="1600" dirty="0" smtClean="0"/>
              <a:t> Automated </a:t>
            </a:r>
            <a:r>
              <a:rPr lang="en-US" sz="1600" dirty="0"/>
              <a:t>report generation </a:t>
            </a:r>
          </a:p>
          <a:p>
            <a:pPr>
              <a:buFont typeface="Arial" panose="020B0604020202020204" pitchFamily="34" charset="0"/>
              <a:buChar char="•"/>
            </a:pPr>
            <a:r>
              <a:rPr lang="en-US" sz="1600" dirty="0" smtClean="0"/>
              <a:t> Real-time </a:t>
            </a:r>
            <a:r>
              <a:rPr lang="en-US" sz="1600" dirty="0"/>
              <a:t>decision support </a:t>
            </a:r>
            <a:endParaRPr lang="en-US" sz="1600" dirty="0" smtClean="0"/>
          </a:p>
          <a:p>
            <a:pPr>
              <a:buFont typeface="Arial" panose="020B0604020202020204" pitchFamily="34" charset="0"/>
              <a:buChar char="•"/>
            </a:pPr>
            <a:endParaRPr lang="en-US" sz="1600" dirty="0"/>
          </a:p>
          <a:p>
            <a:r>
              <a:rPr lang="en-US" sz="1600" b="1" dirty="0" smtClean="0"/>
              <a:t>Advantages</a:t>
            </a:r>
          </a:p>
          <a:p>
            <a:endParaRPr lang="en-US" sz="1600" b="1" dirty="0"/>
          </a:p>
          <a:p>
            <a:pPr>
              <a:buFont typeface="Arial" panose="020B0604020202020204" pitchFamily="34" charset="0"/>
              <a:buChar char="•"/>
            </a:pPr>
            <a:r>
              <a:rPr lang="en-US" sz="1600" dirty="0" smtClean="0"/>
              <a:t> Reduced </a:t>
            </a:r>
            <a:r>
              <a:rPr lang="en-US" sz="1600" dirty="0"/>
              <a:t>human effort </a:t>
            </a:r>
          </a:p>
          <a:p>
            <a:pPr>
              <a:buFont typeface="Arial" panose="020B0604020202020204" pitchFamily="34" charset="0"/>
              <a:buChar char="•"/>
            </a:pPr>
            <a:r>
              <a:rPr lang="en-US" sz="1600" dirty="0" smtClean="0"/>
              <a:t> Improved </a:t>
            </a:r>
            <a:r>
              <a:rPr lang="en-US" sz="1600" dirty="0"/>
              <a:t>accuracy </a:t>
            </a:r>
          </a:p>
          <a:p>
            <a:pPr>
              <a:buFont typeface="Arial" panose="020B0604020202020204" pitchFamily="34" charset="0"/>
              <a:buChar char="•"/>
            </a:pPr>
            <a:r>
              <a:rPr lang="en-US" sz="1600" dirty="0" smtClean="0"/>
              <a:t> Faster </a:t>
            </a:r>
            <a:r>
              <a:rPr lang="en-US" sz="1600" dirty="0"/>
              <a:t>analysis </a:t>
            </a:r>
          </a:p>
          <a:p>
            <a:pPr>
              <a:buFont typeface="Arial" panose="020B0604020202020204" pitchFamily="34" charset="0"/>
              <a:buChar char="•"/>
            </a:pPr>
            <a:r>
              <a:rPr lang="en-US" sz="1600" dirty="0" smtClean="0"/>
              <a:t> Proactive </a:t>
            </a:r>
            <a:r>
              <a:rPr lang="en-US" sz="1600" dirty="0"/>
              <a:t>recommendations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873956" y="387917"/>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Technology Used</a:t>
            </a:r>
            <a:endParaRPr sz="2400" b="1" i="0" u="none" strike="noStrike" cap="none" dirty="0">
              <a:solidFill>
                <a:srgbClr val="000000"/>
              </a:solidFill>
              <a:latin typeface="Arial"/>
              <a:ea typeface="Arial"/>
              <a:cs typeface="Arial"/>
              <a:sym typeface="Arial"/>
            </a:endParaRPr>
          </a:p>
        </p:txBody>
      </p:sp>
      <p:graphicFrame>
        <p:nvGraphicFramePr>
          <p:cNvPr id="3" name="Table 2"/>
          <p:cNvGraphicFramePr>
            <a:graphicFrameLocks noGrp="1"/>
          </p:cNvGraphicFramePr>
          <p:nvPr>
            <p:extLst>
              <p:ext uri="{D42A27DB-BD31-4B8C-83A1-F6EECF244321}">
                <p14:modId xmlns:p14="http://schemas.microsoft.com/office/powerpoint/2010/main" val="3070556792"/>
              </p:ext>
            </p:extLst>
          </p:nvPr>
        </p:nvGraphicFramePr>
        <p:xfrm>
          <a:off x="970084" y="1425148"/>
          <a:ext cx="10515600" cy="2743200"/>
        </p:xfrm>
        <a:graphic>
          <a:graphicData uri="http://schemas.openxmlformats.org/drawingml/2006/table">
            <a:tbl>
              <a:tblPr/>
              <a:tblGrid>
                <a:gridCol w="5257800"/>
                <a:gridCol w="5257800"/>
              </a:tblGrid>
              <a:tr h="0">
                <a:tc>
                  <a:txBody>
                    <a:bodyPr/>
                    <a:lstStyle/>
                    <a:p>
                      <a:pPr algn="ctr"/>
                      <a:r>
                        <a:rPr lang="en-IN" dirty="0"/>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IN"/>
                        <a:t>LangFlow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t>Workflow orchestration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IN" dirty="0"/>
                        <a:t>IBM watsonx.ai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t>AI 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IN"/>
                        <a:t>IBM Granite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t>Reasoning and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IN" dirty="0" err="1"/>
                        <a:t>ChromaDB</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t>Vector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IN"/>
                        <a:t>RAG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t>Knowledge retrieval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IN"/>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t>Backend 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IN" dirty="0" err="1"/>
                        <a:t>Streamlit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a:t>Dashboard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gn="ctr"/>
                      <a:r>
                        <a:rPr lang="en-IN"/>
                        <a:t>IBM 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Hosting and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dirty="0">
                <a:solidFill>
                  <a:srgbClr val="000000"/>
                </a:solidFill>
                <a:latin typeface="Arial"/>
                <a:ea typeface="Arial"/>
                <a:cs typeface="Arial"/>
                <a:sym typeface="Arial"/>
              </a:rPr>
              <a:t>Token Usage </a:t>
            </a:r>
            <a:endParaRPr sz="2400" b="1" i="0" u="none" strike="noStrike" cap="none" dirty="0">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153" name="Google Shape;153;p40" descr="A screenshot of a computer&#10;&#10;AI-generated content may be incorrect."/>
          <p:cNvPicPr preferRelativeResize="0"/>
          <p:nvPr/>
        </p:nvPicPr>
        <p:blipFill rotWithShape="1">
          <a:blip r:embed="rId3">
            <a:alphaModFix/>
          </a:blip>
          <a:srcRect/>
          <a:stretch/>
        </p:blipFill>
        <p:spPr>
          <a:xfrm>
            <a:off x="987366" y="1572554"/>
            <a:ext cx="4191222" cy="2091995"/>
          </a:xfrm>
          <a:prstGeom prst="rect">
            <a:avLst/>
          </a:prstGeom>
          <a:noFill/>
          <a:ln>
            <a:noFill/>
          </a:ln>
        </p:spPr>
      </p:pic>
      <p:pic>
        <p:nvPicPr>
          <p:cNvPr id="154" name="Google Shape;154;p40" descr="A screenshot of a computer&#10;&#10;AI-generated content may be incorrect."/>
          <p:cNvPicPr preferRelativeResize="0"/>
          <p:nvPr/>
        </p:nvPicPr>
        <p:blipFill rotWithShape="1">
          <a:blip r:embed="rId4">
            <a:alphaModFix/>
          </a:blip>
          <a:srcRect/>
          <a:stretch/>
        </p:blipFill>
        <p:spPr>
          <a:xfrm>
            <a:off x="982683" y="3887192"/>
            <a:ext cx="4195905" cy="2385270"/>
          </a:xfrm>
          <a:prstGeom prst="rect">
            <a:avLst/>
          </a:prstGeom>
          <a:noFill/>
          <a:ln>
            <a:noFill/>
          </a:ln>
        </p:spPr>
      </p:pic>
      <p:sp>
        <p:nvSpPr>
          <p:cNvPr id="155" name="Google Shape;155;p40"/>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11,761 token are used</a:t>
            </a:r>
            <a:endParaRPr/>
          </a:p>
        </p:txBody>
      </p:sp>
      <p:sp>
        <p:nvSpPr>
          <p:cNvPr id="2" name="TextBox 1"/>
          <p:cNvSpPr txBox="1"/>
          <p:nvPr/>
        </p:nvSpPr>
        <p:spPr>
          <a:xfrm>
            <a:off x="6489508" y="1625035"/>
            <a:ext cx="4395537" cy="4524315"/>
          </a:xfrm>
          <a:prstGeom prst="rect">
            <a:avLst/>
          </a:prstGeom>
          <a:noFill/>
        </p:spPr>
        <p:txBody>
          <a:bodyPr wrap="square" rtlCol="0">
            <a:spAutoFit/>
          </a:bodyPr>
          <a:lstStyle/>
          <a:p>
            <a:r>
              <a:rPr lang="en-IN" sz="1800" b="1" dirty="0"/>
              <a:t>Dashboard </a:t>
            </a:r>
            <a:r>
              <a:rPr lang="en-IN" sz="1800" b="1" dirty="0" smtClean="0"/>
              <a:t>Modules Market </a:t>
            </a:r>
            <a:r>
              <a:rPr lang="en-IN" sz="1800" b="1" dirty="0"/>
              <a:t>Pulse</a:t>
            </a:r>
          </a:p>
          <a:p>
            <a:pPr marL="285750" indent="-285750">
              <a:buFont typeface="Arial" panose="020B0604020202020204" pitchFamily="34" charset="0"/>
              <a:buChar char="•"/>
            </a:pPr>
            <a:r>
              <a:rPr lang="en-IN" sz="1800" dirty="0"/>
              <a:t>Industry trends </a:t>
            </a:r>
          </a:p>
          <a:p>
            <a:pPr marL="285750" indent="-285750">
              <a:buFont typeface="Arial" panose="020B0604020202020204" pitchFamily="34" charset="0"/>
              <a:buChar char="•"/>
            </a:pPr>
            <a:r>
              <a:rPr lang="en-IN" sz="1800" dirty="0"/>
              <a:t>Emerging opportunities </a:t>
            </a:r>
            <a:endParaRPr lang="en-IN" sz="1800" dirty="0" smtClean="0"/>
          </a:p>
          <a:p>
            <a:endParaRPr lang="en-IN" sz="1800" dirty="0"/>
          </a:p>
          <a:p>
            <a:r>
              <a:rPr lang="en-IN" sz="1800" b="1" dirty="0"/>
              <a:t>Competitor </a:t>
            </a:r>
            <a:r>
              <a:rPr lang="en-IN" sz="1800" b="1" dirty="0" smtClean="0"/>
              <a:t>Tracker</a:t>
            </a:r>
            <a:endParaRPr lang="en-IN" sz="1800" b="1" dirty="0"/>
          </a:p>
          <a:p>
            <a:pPr marL="285750" indent="-285750">
              <a:buFont typeface="Arial" panose="020B0604020202020204" pitchFamily="34" charset="0"/>
              <a:buChar char="•"/>
            </a:pPr>
            <a:r>
              <a:rPr lang="en-IN" sz="1800" dirty="0"/>
              <a:t>Product launches </a:t>
            </a:r>
          </a:p>
          <a:p>
            <a:pPr marL="285750" indent="-285750">
              <a:buFont typeface="Arial" panose="020B0604020202020204" pitchFamily="34" charset="0"/>
              <a:buChar char="•"/>
            </a:pPr>
            <a:r>
              <a:rPr lang="en-IN" sz="1800" dirty="0"/>
              <a:t>Pricing changes </a:t>
            </a:r>
            <a:endParaRPr lang="en-IN" sz="1800" dirty="0" smtClean="0"/>
          </a:p>
          <a:p>
            <a:pPr marL="285750" indent="-285750">
              <a:buFont typeface="Arial" panose="020B0604020202020204" pitchFamily="34" charset="0"/>
              <a:buChar char="•"/>
            </a:pPr>
            <a:endParaRPr lang="en-IN" sz="1800" dirty="0"/>
          </a:p>
          <a:p>
            <a:r>
              <a:rPr lang="en-IN" sz="1800" b="1" dirty="0"/>
              <a:t>Customer Sentiment</a:t>
            </a:r>
          </a:p>
          <a:p>
            <a:pPr marL="285750" indent="-285750">
              <a:buFont typeface="Arial" panose="020B0604020202020204" pitchFamily="34" charset="0"/>
              <a:buChar char="•"/>
            </a:pPr>
            <a:r>
              <a:rPr lang="en-IN" sz="1800" dirty="0"/>
              <a:t>Positive/Negative sentiment </a:t>
            </a:r>
            <a:endParaRPr lang="en-IN" sz="1800" dirty="0" smtClean="0"/>
          </a:p>
          <a:p>
            <a:pPr marL="285750" indent="-285750">
              <a:buFont typeface="Arial" panose="020B0604020202020204" pitchFamily="34" charset="0"/>
              <a:buChar char="•"/>
            </a:pPr>
            <a:endParaRPr lang="en-IN" sz="1800" dirty="0"/>
          </a:p>
          <a:p>
            <a:r>
              <a:rPr lang="en-IN" sz="1800" b="1" dirty="0"/>
              <a:t>Demand </a:t>
            </a:r>
            <a:r>
              <a:rPr lang="en-IN" sz="1800" b="1" dirty="0" smtClean="0"/>
              <a:t>Forecast</a:t>
            </a:r>
            <a:endParaRPr lang="en-IN" sz="1800" b="1" dirty="0"/>
          </a:p>
          <a:p>
            <a:pPr marL="285750" indent="-285750">
              <a:buFont typeface="Arial" panose="020B0604020202020204" pitchFamily="34" charset="0"/>
              <a:buChar char="•"/>
            </a:pPr>
            <a:r>
              <a:rPr lang="en-IN" sz="1800" dirty="0"/>
              <a:t>Growth projections </a:t>
            </a:r>
            <a:endParaRPr lang="en-IN" sz="1800" dirty="0" smtClean="0"/>
          </a:p>
          <a:p>
            <a:pPr marL="285750" indent="-285750">
              <a:buFont typeface="Arial" panose="020B0604020202020204" pitchFamily="34" charset="0"/>
              <a:buChar char="•"/>
            </a:pPr>
            <a:endParaRPr lang="en-IN" sz="1800" dirty="0"/>
          </a:p>
          <a:p>
            <a:r>
              <a:rPr lang="en-IN" sz="1800" b="1" dirty="0"/>
              <a:t>Executive Summary</a:t>
            </a:r>
          </a:p>
          <a:p>
            <a:pPr marL="285750" indent="-285750">
              <a:buFont typeface="Arial" panose="020B0604020202020204" pitchFamily="34" charset="0"/>
              <a:buChar char="•"/>
            </a:pPr>
            <a:r>
              <a:rPr lang="en-IN" sz="1800" dirty="0"/>
              <a:t>Strategic recommendations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61" name="Google Shape;161;p41"/>
          <p:cNvSpPr txBox="1"/>
          <p:nvPr/>
        </p:nvSpPr>
        <p:spPr>
          <a:xfrm>
            <a:off x="777240" y="1207008"/>
            <a:ext cx="11301984" cy="4247276"/>
          </a:xfrm>
          <a:prstGeom prst="rect">
            <a:avLst/>
          </a:prstGeom>
          <a:noFill/>
          <a:ln>
            <a:noFill/>
          </a:ln>
        </p:spPr>
        <p:txBody>
          <a:bodyPr spcFirstLastPara="1" wrap="square" lIns="91425" tIns="45700" rIns="91425" bIns="45700" anchor="t" anchorCtr="0">
            <a:spAutoFit/>
          </a:bodyPr>
          <a:lstStyle/>
          <a:p>
            <a:r>
              <a:rPr lang="en-IN" sz="1800" b="1" u="sng" dirty="0"/>
              <a:t>Novel </a:t>
            </a:r>
            <a:r>
              <a:rPr lang="en-IN" sz="1800" b="1" u="sng" dirty="0" smtClean="0"/>
              <a:t>Features</a:t>
            </a:r>
          </a:p>
          <a:p>
            <a:endParaRPr lang="en-IN" sz="1800" b="1" u="sng" dirty="0"/>
          </a:p>
          <a:p>
            <a:r>
              <a:rPr lang="en-IN" sz="1800" b="1" dirty="0"/>
              <a:t>Multi-Agent </a:t>
            </a:r>
            <a:r>
              <a:rPr lang="en-IN" sz="1800" b="1" dirty="0" smtClean="0"/>
              <a:t>Intelligence : </a:t>
            </a:r>
            <a:r>
              <a:rPr lang="en-IN" sz="1800" dirty="0" smtClean="0"/>
              <a:t>Multiple </a:t>
            </a:r>
            <a:r>
              <a:rPr lang="en-IN" sz="1800" dirty="0"/>
              <a:t>specialized AI agents collaborate</a:t>
            </a:r>
            <a:r>
              <a:rPr lang="en-IN" sz="1800" dirty="0" smtClean="0"/>
              <a:t>.</a:t>
            </a:r>
          </a:p>
          <a:p>
            <a:endParaRPr lang="en-IN" sz="1800" dirty="0"/>
          </a:p>
          <a:p>
            <a:r>
              <a:rPr lang="en-IN" sz="1800" b="1" dirty="0"/>
              <a:t>RAG-Based Market </a:t>
            </a:r>
            <a:r>
              <a:rPr lang="en-IN" sz="1800" b="1" dirty="0" smtClean="0"/>
              <a:t>Research : </a:t>
            </a:r>
            <a:r>
              <a:rPr lang="en-IN" sz="1800" dirty="0" smtClean="0"/>
              <a:t>Accurate </a:t>
            </a:r>
            <a:r>
              <a:rPr lang="en-IN" sz="1800" dirty="0"/>
              <a:t>and trustworthy information retrieval</a:t>
            </a:r>
            <a:r>
              <a:rPr lang="en-IN" sz="1800" dirty="0" smtClean="0"/>
              <a:t>.</a:t>
            </a:r>
          </a:p>
          <a:p>
            <a:endParaRPr lang="en-IN" sz="1800" dirty="0"/>
          </a:p>
          <a:p>
            <a:r>
              <a:rPr lang="en-IN" sz="1800" b="1" dirty="0"/>
              <a:t>Predictive </a:t>
            </a:r>
            <a:r>
              <a:rPr lang="en-IN" sz="1800" b="1" dirty="0" smtClean="0"/>
              <a:t>Analytics : </a:t>
            </a:r>
            <a:r>
              <a:rPr lang="en-IN" sz="1800" dirty="0" smtClean="0"/>
              <a:t>Forecasts </a:t>
            </a:r>
            <a:r>
              <a:rPr lang="en-IN" sz="1800" dirty="0"/>
              <a:t>future trends and opportunities</a:t>
            </a:r>
            <a:r>
              <a:rPr lang="en-IN" sz="1800" dirty="0" smtClean="0"/>
              <a:t>.</a:t>
            </a:r>
          </a:p>
          <a:p>
            <a:endParaRPr lang="en-IN" sz="1800" dirty="0"/>
          </a:p>
          <a:p>
            <a:r>
              <a:rPr lang="en-IN" sz="1800" b="1" dirty="0"/>
              <a:t>Real-Time </a:t>
            </a:r>
            <a:r>
              <a:rPr lang="en-IN" sz="1800" b="1" dirty="0" smtClean="0"/>
              <a:t>Monitoring : </a:t>
            </a:r>
            <a:r>
              <a:rPr lang="en-IN" sz="1800" dirty="0" smtClean="0"/>
              <a:t>Tracks </a:t>
            </a:r>
            <a:r>
              <a:rPr lang="en-IN" sz="1800" dirty="0"/>
              <a:t>market changes continuously</a:t>
            </a:r>
            <a:r>
              <a:rPr lang="en-IN" sz="1800" dirty="0" smtClean="0"/>
              <a:t>.</a:t>
            </a:r>
          </a:p>
          <a:p>
            <a:endParaRPr lang="en-IN" sz="1800" dirty="0"/>
          </a:p>
          <a:p>
            <a:r>
              <a:rPr lang="en-IN" sz="1800" b="1" dirty="0"/>
              <a:t>Multimodal </a:t>
            </a:r>
            <a:r>
              <a:rPr lang="en-IN" sz="1800" b="1" dirty="0" smtClean="0"/>
              <a:t>Input : </a:t>
            </a:r>
            <a:r>
              <a:rPr lang="en-IN" sz="1800" dirty="0" smtClean="0"/>
              <a:t>Supports </a:t>
            </a:r>
            <a:r>
              <a:rPr lang="en-IN" sz="1800" dirty="0"/>
              <a:t>documents, text, charts, and voice notes</a:t>
            </a:r>
            <a:r>
              <a:rPr lang="en-IN" sz="1800" dirty="0" smtClean="0"/>
              <a:t>.</a:t>
            </a:r>
          </a:p>
          <a:p>
            <a:endParaRPr lang="en-IN" sz="1800" dirty="0"/>
          </a:p>
          <a:p>
            <a:r>
              <a:rPr lang="en-IN" sz="1800" b="1" dirty="0"/>
              <a:t>Automated Executive </a:t>
            </a:r>
            <a:r>
              <a:rPr lang="en-IN" sz="1800" b="1" dirty="0" smtClean="0"/>
              <a:t>Reports : </a:t>
            </a:r>
            <a:r>
              <a:rPr lang="en-IN" sz="1800" dirty="0" smtClean="0"/>
              <a:t>Generates </a:t>
            </a:r>
            <a:r>
              <a:rPr lang="en-IN" sz="1800" dirty="0"/>
              <a:t>ready-to-use business insights</a:t>
            </a:r>
            <a:r>
              <a:rPr lang="en-IN" sz="1800" dirty="0" smtClean="0"/>
              <a:t>.</a:t>
            </a:r>
          </a:p>
          <a:p>
            <a:endParaRPr lang="en-IN" sz="1800" dirty="0"/>
          </a:p>
          <a:p>
            <a:r>
              <a:rPr lang="en-IN" sz="1800" b="1" dirty="0"/>
              <a:t>IBM Enterprise AI </a:t>
            </a:r>
            <a:r>
              <a:rPr lang="en-IN" sz="1800" b="1" dirty="0" smtClean="0"/>
              <a:t>Stack : </a:t>
            </a:r>
            <a:r>
              <a:rPr lang="en-IN" sz="1800" dirty="0" smtClean="0"/>
              <a:t>Built </a:t>
            </a:r>
            <a:r>
              <a:rPr lang="en-IN" sz="1800" dirty="0"/>
              <a:t>using IBM Granite and watsonx.ai.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Git</a:t>
            </a:r>
            <a:r>
              <a:rPr lang="en-US" sz="2400" b="1" i="0" u="none" strike="noStrike" cap="none" dirty="0">
                <a:solidFill>
                  <a:srgbClr val="000000"/>
                </a:solidFill>
                <a:latin typeface="Arial"/>
                <a:ea typeface="Arial"/>
                <a:cs typeface="Arial"/>
                <a:sym typeface="Arial"/>
              </a:rPr>
              <a:t> Hub Link</a:t>
            </a:r>
            <a:endParaRPr sz="2400" b="1" i="0" u="none" strike="noStrike" cap="none" dirty="0">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github repository (Enable Add README  button while creating repository) with format – </a:t>
            </a:r>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Please test and Paste the working  Github URL –</a:t>
            </a:r>
            <a:endParaRPr/>
          </a:p>
          <a:p>
            <a:pPr marL="0" marR="0" lvl="0" indent="0" algn="l" rtl="0">
              <a:lnSpc>
                <a:spcPct val="162162"/>
              </a:lnSpc>
              <a:spcBef>
                <a:spcPts val="0"/>
              </a:spcBef>
              <a:spcAft>
                <a:spcPts val="0"/>
              </a:spcAft>
              <a:buNone/>
            </a:pPr>
            <a:r>
              <a:rPr lang="en-US" sz="1850" b="1" i="0" u="none" strike="noStrike" cap="none">
                <a:solidFill>
                  <a:srgbClr val="2B3541"/>
                </a:solidFill>
                <a:latin typeface="Times New Roman"/>
                <a:ea typeface="Times New Roman"/>
                <a:cs typeface="Times New Roman"/>
                <a:sym typeface="Times New Roman"/>
              </a:rPr>
              <a:t>Make sure you have Uploaded following three files into your github repository  </a:t>
            </a:r>
            <a:r>
              <a:rPr lang="en-US" sz="1850" b="0" i="0" u="none" strike="noStrike" cap="none">
                <a:solidFill>
                  <a:srgbClr val="2B3541"/>
                </a:solidFill>
                <a:latin typeface="Times New Roman"/>
                <a:ea typeface="Times New Roman"/>
                <a:cs typeface="Times New Roman"/>
                <a:sym typeface="Times New Roman"/>
              </a:rPr>
              <a:t/>
            </a:r>
            <a:br>
              <a:rPr lang="en-US" sz="1850" b="0" i="0" u="none" strike="noStrike" cap="none">
                <a:solidFill>
                  <a:srgbClr val="2B3541"/>
                </a:solidFill>
                <a:latin typeface="Times New Roman"/>
                <a:ea typeface="Times New Roman"/>
                <a:cs typeface="Times New Roman"/>
                <a:sym typeface="Times New Roman"/>
              </a:rPr>
            </a:br>
            <a:r>
              <a:rPr lang="en-US" sz="1850" b="0" i="0" u="none" strike="noStrike" cap="none">
                <a:solidFill>
                  <a:srgbClr val="2B3541"/>
                </a:solidFill>
                <a:latin typeface="Times New Roman"/>
                <a:ea typeface="Times New Roman"/>
                <a:cs typeface="Times New Roman"/>
                <a:sym typeface="Times New Roman"/>
              </a:rPr>
              <a:t>1) app.json file , 2) yourproblemstatement.pdf file  3) your projectpresntation.pptx file 4)any other files </a:t>
            </a:r>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9" name="Google Shape;16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6" name="Google Shape;176;p43"/>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2.AI-Powered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668</Words>
  <Application>Microsoft Office PowerPoint</Application>
  <PresentationFormat>Widescreen</PresentationFormat>
  <Paragraphs>206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dc:title>
  <dc:creator>Manda Anirudh</dc:creator>
  <cp:lastModifiedBy>Admin</cp:lastModifiedBy>
  <cp:revision>4</cp:revision>
  <dcterms:created xsi:type="dcterms:W3CDTF">2025-07-08T05:06:56Z</dcterms:created>
  <dcterms:modified xsi:type="dcterms:W3CDTF">2026-06-11T10:44:21Z</dcterms:modified>
</cp:coreProperties>
</file>